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7760" y="1371600"/>
            <a:ext cx="457200" cy="91440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94960" y="1645920"/>
            <a:ext cx="1371600" cy="320040"/>
          </a:xfrm>
          <a:prstGeom prst="rect">
            <a:avLst/>
          </a:prstGeom>
          <a:solidFill>
            <a:srgbClr val="D0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66560" y="1371600"/>
            <a:ext cx="457200" cy="91440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23774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C3F7"/>
                </a:solidFill>
              </a:defRPr>
            </a:pPr>
            <a:r>
              <a:t>MuscleLove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SEO改善・自動投稿修正レポート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4297680"/>
            <a:ext cx="39319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5720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0D5E8"/>
                </a:solidFill>
              </a:defRPr>
            </a:pPr>
            <a:r>
              <a:t>musclelove-777.github.io — 2026年4月1日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095A8"/>
                </a:solidFill>
              </a:defRPr>
            </a:pPr>
            <a: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⚠ 発見された問題（全体像）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5486400" y="1371600"/>
            <a:ext cx="1188720" cy="1188720"/>
          </a:xfrm>
          <a:prstGeom prst="diamond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55448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3291840" cy="347472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11680" y="3200400"/>
            <a:ext cx="731520" cy="731520"/>
          </a:xfrm>
          <a:prstGeom prst="ellipse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5350"/>
                </a:solidFill>
              </a:defRPr>
            </a:pPr>
            <a:r>
              <a:t>問題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robots.txtの不在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292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5E8"/>
                </a:solidFill>
              </a:defRPr>
            </a:pPr>
            <a:r>
              <a:t>ルートにrobots.txtがなく</a:t>
            </a:r>
            <a:br/>
            <a:r>
              <a:t>Googleがサイトマップを</a:t>
            </a:r>
            <a:br/>
            <a:r>
              <a:t>発見できない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2926080"/>
            <a:ext cx="3291840" cy="347472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60719" y="3200400"/>
            <a:ext cx="731520" cy="731520"/>
          </a:xfrm>
          <a:prstGeom prst="ellipse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726"/>
                </a:solidFill>
              </a:defRPr>
            </a:pPr>
            <a:r>
              <a:t>問題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4480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重複記事の生成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50292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5E8"/>
                </a:solidFill>
              </a:defRPr>
            </a:pPr>
            <a:r>
              <a:t>毎日同じ商品（jur00701）の</a:t>
            </a:r>
            <a:br/>
            <a:r>
              <a:t>重複記事を生成していた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926080"/>
            <a:ext cx="3291840" cy="347472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0" y="3200400"/>
            <a:ext cx="731520" cy="73152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54F"/>
                </a:solidFill>
              </a:defRPr>
            </a:pPr>
            <a:r>
              <a:t>問題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480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廃止済みping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0292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5E8"/>
                </a:solidFill>
              </a:defRPr>
            </a:pPr>
            <a:r>
              <a:t>廃止済みのGoogle Sitemap</a:t>
            </a:r>
            <a:br/>
            <a:r>
              <a:t>pingがエラーを出していた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069080" y="1691640"/>
            <a:ext cx="457200" cy="274320"/>
          </a:xfrm>
          <a:prstGeom prst="rightArrow">
            <a:avLst/>
          </a:prstGeom>
          <a:solidFill>
            <a:srgbClr val="909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eft Arrow 23"/>
          <p:cNvSpPr/>
          <p:nvPr/>
        </p:nvSpPr>
        <p:spPr>
          <a:xfrm>
            <a:off x="7635240" y="1691640"/>
            <a:ext cx="457200" cy="274320"/>
          </a:xfrm>
          <a:prstGeom prst="leftArrow">
            <a:avLst/>
          </a:prstGeom>
          <a:solidFill>
            <a:srgbClr val="909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095A8"/>
                </a:solidFill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問題1: robots.txtの不在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548640"/>
          </a:xfrm>
          <a:prstGeom prst="round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修正前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1645920" cy="91440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FC3F7"/>
                </a:solidFill>
              </a:defRPr>
            </a:pPr>
            <a:r>
              <a:t>Googlebot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77440" y="2468880"/>
            <a:ext cx="640080" cy="274320"/>
          </a:xfrm>
          <a:prstGeom prst="rightArrow">
            <a:avLst/>
          </a:prstGeom>
          <a:solidFill>
            <a:srgbClr val="D0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08960" y="2194560"/>
            <a:ext cx="1645920" cy="91440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5350"/>
                </a:solidFill>
              </a:defRPr>
            </a:pPr>
            <a:r>
              <a:t>robots.txt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0" y="3200400"/>
            <a:ext cx="548640" cy="548640"/>
          </a:xfrm>
          <a:prstGeom prst="ellipse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5350"/>
                </a:solidFill>
              </a:defRPr>
            </a:pPr>
            <a:r>
              <a:t>404 不在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46320" y="2468880"/>
            <a:ext cx="457200" cy="274320"/>
          </a:xfrm>
          <a:prstGeom prst="rightArrow">
            <a:avLst/>
          </a:prstGeom>
          <a:solidFill>
            <a:srgbClr val="909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3200400"/>
            <a:ext cx="1280160" cy="73152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909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9095A8"/>
                </a:solidFill>
              </a:defRPr>
            </a:pPr>
            <a:r>
              <a:t>到達不能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71600"/>
            <a:ext cx="5486400" cy="548640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修正後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194560"/>
            <a:ext cx="1371600" cy="91440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C3F7"/>
                </a:solidFill>
              </a:defRPr>
            </a:pPr>
            <a:r>
              <a:t>Googlebot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046720" y="2468880"/>
            <a:ext cx="457200" cy="274320"/>
          </a:xfrm>
          <a:prstGeom prst="rightArrow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2194560"/>
            <a:ext cx="1371600" cy="91440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6BB6A"/>
                </a:solidFill>
              </a:defRPr>
            </a:pPr>
            <a:r>
              <a:t>robots.txt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058400" y="2468880"/>
            <a:ext cx="457200" cy="274320"/>
          </a:xfrm>
          <a:prstGeom prst="rightArrow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607040" y="2194560"/>
            <a:ext cx="1097280" cy="91440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6BB6A"/>
                </a:solidFill>
              </a:defRPr>
            </a:pPr>
            <a:r>
              <a:t>sitemap</a:t>
            </a:r>
            <a:br/>
            <a:r>
              <a:t>.xml</a:t>
            </a:r>
          </a:p>
        </p:txBody>
      </p:sp>
      <p:sp>
        <p:nvSpPr>
          <p:cNvPr id="22" name="Oval 21"/>
          <p:cNvSpPr/>
          <p:nvPr/>
        </p:nvSpPr>
        <p:spPr>
          <a:xfrm>
            <a:off x="10881360" y="3200400"/>
            <a:ext cx="548640" cy="54864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18320" y="3474720"/>
            <a:ext cx="457200" cy="274320"/>
          </a:xfrm>
          <a:prstGeom prst="rightArrow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0" y="3383280"/>
            <a:ext cx="1005840" cy="64008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6BB6A"/>
                </a:solidFill>
              </a:defRPr>
            </a:pPr>
            <a:r>
              <a:t>記事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754880"/>
            <a:ext cx="11247120" cy="182880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726"/>
                </a:solidFill>
              </a:defRPr>
            </a:pPr>
            <a:r>
              <a:t>補足: Search Console登録URLとサイト実URLのズレ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394960"/>
            <a:ext cx="4114800" cy="914400"/>
          </a:xfrm>
          <a:prstGeom prst="roundRect">
            <a:avLst/>
          </a:prstGeom>
          <a:solidFill>
            <a:srgbClr val="1A1A30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F5350"/>
                </a:solidFill>
              </a:defRPr>
            </a:pPr>
            <a:r>
              <a:t>Search Console登録:</a:t>
            </a:r>
            <a:br/>
            <a:r>
              <a:t>musclelove-777.github.io/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5486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726"/>
                </a:solidFill>
              </a:defRPr>
            </a:pPr>
            <a:r>
              <a:t>≠ ズレ 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5394960"/>
            <a:ext cx="4572000" cy="914400"/>
          </a:xfrm>
          <a:prstGeom prst="roundRect">
            <a:avLst/>
          </a:prstGeom>
          <a:solidFill>
            <a:srgbClr val="1A1A30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66BB6A"/>
                </a:solidFill>
              </a:defRPr>
            </a:pPr>
            <a:r>
              <a:t>実URL:</a:t>
            </a:r>
            <a:br/>
            <a:r>
              <a:t>musclelove-777.github.io/fitness-affiliate-blog/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095A8"/>
                </a:solidFill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問題2: 重複記事の生成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447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日付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447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生成ファイル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4447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状態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920240"/>
            <a:ext cx="10332720" cy="548640"/>
          </a:xfrm>
          <a:prstGeom prst="rect">
            <a:avLst/>
          </a:prstGeom>
          <a:solidFill>
            <a:srgbClr val="2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0D5E8"/>
                </a:solidFill>
              </a:defRPr>
            </a:pPr>
            <a:r>
              <a:t>3月29日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9933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0D5E8"/>
                </a:solidFill>
              </a:defRPr>
            </a:pPr>
            <a:r>
              <a:t>2026-03-29-jur00701.md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9933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F5350"/>
                </a:solidFill>
              </a:defRPr>
            </a:pPr>
            <a:r>
              <a:t>全部同じ商品！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solidFill>
            <a:srgbClr val="1E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420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0D5E8"/>
                </a:solidFill>
              </a:defRPr>
            </a:pPr>
            <a:r>
              <a:t>3月30日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5420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0D5E8"/>
                </a:solidFill>
              </a:defRPr>
            </a:pPr>
            <a:r>
              <a:t>2026-03-30-jur00701.md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5420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F5350"/>
                </a:solidFill>
              </a:defRPr>
            </a:pPr>
            <a:r>
              <a:t>全部同じ商品！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solidFill>
            <a:srgbClr val="2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0906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0D5E8"/>
                </a:solidFill>
              </a:defRPr>
            </a:pPr>
            <a:r>
              <a:t>3月31日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090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0D5E8"/>
                </a:solidFill>
              </a:defRPr>
            </a:pPr>
            <a:r>
              <a:t>2026-03-31-jur00701.md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0906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F5350"/>
                </a:solidFill>
              </a:defRPr>
            </a:pPr>
            <a:r>
              <a:t>全部同じ商品！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solidFill>
            <a:srgbClr val="1E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639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0D5E8"/>
                </a:solidFill>
              </a:defRPr>
            </a:pPr>
            <a:r>
              <a:t>4月1日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639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0D5E8"/>
                </a:solidFill>
              </a:defRPr>
            </a:pPr>
            <a:r>
              <a:t>2026-04-01-jur00701.md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6393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F5350"/>
                </a:solidFill>
              </a:defRPr>
            </a:pPr>
            <a:r>
              <a:t>全部同じ商品！</a:t>
            </a:r>
          </a:p>
        </p:txBody>
      </p:sp>
      <p:sp>
        <p:nvSpPr>
          <p:cNvPr id="26" name="Oval 25"/>
          <p:cNvSpPr/>
          <p:nvPr/>
        </p:nvSpPr>
        <p:spPr>
          <a:xfrm>
            <a:off x="10972800" y="1965960"/>
            <a:ext cx="411480" cy="411480"/>
          </a:xfrm>
          <a:prstGeom prst="ellipse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！</a:t>
            </a:r>
          </a:p>
        </p:txBody>
      </p:sp>
      <p:sp>
        <p:nvSpPr>
          <p:cNvPr id="27" name="Oval 26"/>
          <p:cNvSpPr/>
          <p:nvPr/>
        </p:nvSpPr>
        <p:spPr>
          <a:xfrm>
            <a:off x="10972800" y="2514600"/>
            <a:ext cx="411480" cy="411480"/>
          </a:xfrm>
          <a:prstGeom prst="ellipse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！</a:t>
            </a:r>
          </a:p>
        </p:txBody>
      </p:sp>
      <p:sp>
        <p:nvSpPr>
          <p:cNvPr id="28" name="Oval 27"/>
          <p:cNvSpPr/>
          <p:nvPr/>
        </p:nvSpPr>
        <p:spPr>
          <a:xfrm>
            <a:off x="10972800" y="3063240"/>
            <a:ext cx="411480" cy="411480"/>
          </a:xfrm>
          <a:prstGeom prst="ellipse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！</a:t>
            </a:r>
          </a:p>
        </p:txBody>
      </p:sp>
      <p:sp>
        <p:nvSpPr>
          <p:cNvPr id="29" name="Oval 28"/>
          <p:cNvSpPr/>
          <p:nvPr/>
        </p:nvSpPr>
        <p:spPr>
          <a:xfrm>
            <a:off x="10972800" y="3611880"/>
            <a:ext cx="411480" cy="411480"/>
          </a:xfrm>
          <a:prstGeom prst="ellipse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114800"/>
            <a:ext cx="5029200" cy="228600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726"/>
                </a:solidFill>
              </a:defRPr>
            </a:pPr>
            <a:r>
              <a:t>原因分析</a:t>
            </a:r>
          </a:p>
        </p:txBody>
      </p:sp>
      <p:sp>
        <p:nvSpPr>
          <p:cNvPr id="32" name="Oval 31"/>
          <p:cNvSpPr/>
          <p:nvPr/>
        </p:nvSpPr>
        <p:spPr>
          <a:xfrm>
            <a:off x="1188720" y="4754880"/>
            <a:ext cx="457200" cy="457200"/>
          </a:xfrm>
          <a:prstGeom prst="ellipse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754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5E8"/>
                </a:solidFill>
              </a:defRPr>
            </a:pPr>
            <a:r>
              <a:t>ファイル名に日付が入るため重複チェックをすり抜け</a:t>
            </a:r>
          </a:p>
        </p:txBody>
      </p:sp>
      <p:sp>
        <p:nvSpPr>
          <p:cNvPr id="34" name="Oval 33"/>
          <p:cNvSpPr/>
          <p:nvPr/>
        </p:nvSpPr>
        <p:spPr>
          <a:xfrm>
            <a:off x="1188720" y="5303520"/>
            <a:ext cx="457200" cy="457200"/>
          </a:xfrm>
          <a:prstGeom prst="ellipse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3035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5E8"/>
                </a:solidFill>
              </a:defRPr>
            </a:pPr>
            <a:r>
              <a:t>API取得数が4件と少なく、フィルタ後いつも同じ1件が残る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114800"/>
            <a:ext cx="5029200" cy="228600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726"/>
                </a:solidFill>
              </a:defRPr>
            </a:pPr>
            <a:r>
              <a:t>重複発生のメカニズム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4846320"/>
            <a:ext cx="1280160" cy="731520"/>
          </a:xfrm>
          <a:prstGeom prst="roundRect">
            <a:avLst/>
          </a:prstGeom>
          <a:solidFill>
            <a:srgbClr val="1A1A30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FC3F7"/>
                </a:solidFill>
              </a:defRPr>
            </a:pPr>
            <a:r>
              <a:t>API</a:t>
            </a:r>
            <a:br/>
            <a:r>
              <a:t>4件取得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046720" y="5029200"/>
            <a:ext cx="457200" cy="228600"/>
          </a:xfrm>
          <a:prstGeom prst="rightArrow">
            <a:avLst/>
          </a:prstGeom>
          <a:solidFill>
            <a:srgbClr val="D0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595360" y="4846320"/>
            <a:ext cx="1280160" cy="731520"/>
          </a:xfrm>
          <a:prstGeom prst="roundRect">
            <a:avLst/>
          </a:prstGeom>
          <a:solidFill>
            <a:srgbClr val="1A1A30"/>
          </a:soli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D54F"/>
                </a:solidFill>
              </a:defRPr>
            </a:pPr>
            <a:r>
              <a:t>フィルタ</a:t>
            </a:r>
            <a:br/>
            <a:r>
              <a:t>3件除外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9966960" y="5029200"/>
            <a:ext cx="457200" cy="228600"/>
          </a:xfrm>
          <a:prstGeom prst="rightArrow">
            <a:avLst/>
          </a:prstGeom>
          <a:solidFill>
            <a:srgbClr val="D0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515600" y="4846320"/>
            <a:ext cx="731520" cy="731520"/>
          </a:xfrm>
          <a:prstGeom prst="roundRect">
            <a:avLst/>
          </a:prstGeom>
          <a:solidFill>
            <a:srgbClr val="1A1A30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5350"/>
                </a:solidFill>
              </a:defRPr>
            </a:pPr>
            <a:r>
              <a:t>毎回</a:t>
            </a:r>
            <a:br/>
            <a:r>
              <a:t>同じ</a:t>
            </a:r>
            <a:br/>
            <a:r>
              <a:t>1件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669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5350"/>
                </a:solidFill>
              </a:defRPr>
            </a:pPr>
            <a:r>
              <a:t>→ 毎日実行 → 毎回jur00701 → 重複記事蓄積 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095A8"/>
                </a:solidFill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修正内容の一覧（全6件）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46304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00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robots.txt追加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554480" y="2148840"/>
            <a:ext cx="365760" cy="228600"/>
          </a:xfrm>
          <a:prstGeom prst="rightArrow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BB6A"/>
                </a:solidFill>
              </a:defRPr>
            </a:pPr>
            <a:r>
              <a:t>Googleがサイトマップ発見可能に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0" y="182880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486400" cy="146304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0" y="1645920"/>
            <a:ext cx="640080" cy="640080"/>
          </a:xfrm>
          <a:prstGeom prst="ellipse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600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重複記事3本削除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498080" y="2148840"/>
            <a:ext cx="365760" cy="228600"/>
          </a:xfrm>
          <a:prstGeom prst="rightArrow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BB6A"/>
                </a:solidFill>
              </a:defRPr>
            </a:pPr>
            <a:r>
              <a:t>SEOペナルティリスク解消</a:t>
            </a:r>
          </a:p>
        </p:txBody>
      </p:sp>
      <p:sp>
        <p:nvSpPr>
          <p:cNvPr id="17" name="Oval 16"/>
          <p:cNvSpPr/>
          <p:nvPr/>
        </p:nvSpPr>
        <p:spPr>
          <a:xfrm>
            <a:off x="11155680" y="182880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5486400" cy="146304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3383280"/>
            <a:ext cx="640080" cy="640080"/>
          </a:xfrm>
          <a:prstGeom prst="ellips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337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content_idベース重複チェック追加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554480" y="3886200"/>
            <a:ext cx="365760" cy="228600"/>
          </a:xfrm>
          <a:prstGeom prst="rightArrow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BB6A"/>
                </a:solidFill>
              </a:defRPr>
            </a:pPr>
            <a:r>
              <a:t>同じ商品の記事が二度と生成されない</a:t>
            </a:r>
          </a:p>
        </p:txBody>
      </p:sp>
      <p:sp>
        <p:nvSpPr>
          <p:cNvPr id="23" name="Oval 22"/>
          <p:cNvSpPr/>
          <p:nvPr/>
        </p:nvSpPr>
        <p:spPr>
          <a:xfrm>
            <a:off x="5212080" y="356616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108960"/>
            <a:ext cx="5486400" cy="146304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75120" y="3383280"/>
            <a:ext cx="640080" cy="640080"/>
          </a:xfrm>
          <a:prstGeom prst="ellipse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337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API取得数を20件に増加＋シャッフル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498080" y="3886200"/>
            <a:ext cx="365760" cy="228600"/>
          </a:xfrm>
          <a:prstGeom prst="rightArrow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BB6A"/>
                </a:solidFill>
              </a:defRPr>
            </a:pPr>
            <a:r>
              <a:t>毎日違う商品を取得</a:t>
            </a:r>
          </a:p>
        </p:txBody>
      </p:sp>
      <p:sp>
        <p:nvSpPr>
          <p:cNvPr id="29" name="Oval 28"/>
          <p:cNvSpPr/>
          <p:nvPr/>
        </p:nvSpPr>
        <p:spPr>
          <a:xfrm>
            <a:off x="11155680" y="356616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46320"/>
            <a:ext cx="5486400" cy="146304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5120640"/>
            <a:ext cx="640080" cy="64008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074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キーワード「フィットネス」追加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554480" y="5623560"/>
            <a:ext cx="365760" cy="228600"/>
          </a:xfrm>
          <a:prstGeom prst="rightArrow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BB6A"/>
                </a:solidFill>
              </a:defRPr>
            </a:pPr>
            <a:r>
              <a:t>1日最大5本に増加</a:t>
            </a:r>
          </a:p>
        </p:txBody>
      </p:sp>
      <p:sp>
        <p:nvSpPr>
          <p:cNvPr id="35" name="Oval 34"/>
          <p:cNvSpPr/>
          <p:nvPr/>
        </p:nvSpPr>
        <p:spPr>
          <a:xfrm>
            <a:off x="5212080" y="530352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846320"/>
            <a:ext cx="5486400" cy="146304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75120" y="5120640"/>
            <a:ext cx="640080" cy="64008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5074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廃止済みGoogle ping削除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7498080" y="5623560"/>
            <a:ext cx="365760" cy="228600"/>
          </a:xfrm>
          <a:prstGeom prst="rightArrow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BB6A"/>
                </a:solidFill>
              </a:defRPr>
            </a:pPr>
            <a:r>
              <a:t>エラーログ解消</a:t>
            </a:r>
          </a:p>
        </p:txBody>
      </p:sp>
      <p:sp>
        <p:nvSpPr>
          <p:cNvPr id="41" name="Oval 40"/>
          <p:cNvSpPr/>
          <p:nvPr/>
        </p:nvSpPr>
        <p:spPr>
          <a:xfrm>
            <a:off x="11155680" y="530352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095A8"/>
                </a:solidFill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修正前後の比較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303520" cy="640080"/>
          </a:xfrm>
          <a:prstGeom prst="round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修正前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0D5E8"/>
                </a:solidFill>
              </a:defRPr>
            </a:pPr>
            <a:r>
              <a:t>robots.txt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5350"/>
                </a:solidFill>
              </a:defRPr>
            </a:pPr>
            <a:r>
              <a:t>なし（404）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457200" cy="457200"/>
          </a:xfrm>
          <a:prstGeom prst="ellipse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0D5E8"/>
                </a:solidFill>
              </a:defRPr>
            </a:pPr>
            <a:r>
              <a:t>記事生成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5350"/>
                </a:solidFill>
              </a:defRPr>
            </a:pPr>
            <a:r>
              <a:t>毎日同じ1本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0D5E8"/>
                </a:solidFill>
              </a:defRPr>
            </a:pPr>
            <a:r>
              <a:t>API取得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617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5350"/>
                </a:solidFill>
              </a:defRPr>
            </a:pPr>
            <a:r>
              <a:t>4件のみ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303520"/>
            <a:ext cx="457200" cy="457200"/>
          </a:xfrm>
          <a:prstGeom prst="ellipse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257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0D5E8"/>
                </a:solidFill>
              </a:defRPr>
            </a:pPr>
            <a:r>
              <a:t>キーワード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623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5350"/>
                </a:solidFill>
              </a:defRPr>
            </a:pPr>
            <a:r>
              <a:t>筋肉のみ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43600" y="3474720"/>
            <a:ext cx="731520" cy="457200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0" y="1371600"/>
            <a:ext cx="5029200" cy="502920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0" y="1371600"/>
            <a:ext cx="5029200" cy="640080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14173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修正後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0" y="228600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0D5E8"/>
                </a:solidFill>
              </a:defRPr>
            </a:pPr>
            <a:r>
              <a:t>robots.txt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BB6A"/>
                </a:solidFill>
              </a:defRPr>
            </a:pPr>
            <a:r>
              <a:t>あり（サイトマップ参照）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0" y="329184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0D5E8"/>
                </a:solidFill>
              </a:defRPr>
            </a:pPr>
            <a:r>
              <a:t>記事生成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BB6A"/>
                </a:solidFill>
              </a:defRPr>
            </a:pPr>
            <a:r>
              <a:t>毎日ユニークな記事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0" y="429768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0D5E8"/>
                </a:solidFill>
              </a:defRPr>
            </a:pPr>
            <a:r>
              <a:t>API取得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617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BB6A"/>
                </a:solidFill>
              </a:defRPr>
            </a:pPr>
            <a:r>
              <a:t>20件（シャッフル）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0" y="530352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257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0D5E8"/>
                </a:solidFill>
              </a:defRPr>
            </a:pPr>
            <a:r>
              <a:t>キーワード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5623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BB6A"/>
                </a:solidFill>
              </a:defRPr>
            </a:pPr>
            <a:r>
              <a:t>筋肉＋フィットネス（最大5本/日）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095A8"/>
                </a:solidFill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残タスク（手動対応が必要）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08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54F"/>
                </a:solidFill>
              </a:defRPr>
            </a:pPr>
            <a:r>
              <a:t>Search Consoleでサイトマップを手動送信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C3F7"/>
                </a:solidFill>
              </a:defRPr>
            </a:pPr>
            <a:r>
              <a:t>URL: https://musclelove-777.github.io/fitness-affiliate-blog/sitemap.xml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手順</a:t>
            </a:r>
          </a:p>
        </p:txBody>
      </p:sp>
      <p:sp>
        <p:nvSpPr>
          <p:cNvPr id="11" name="Oval 10"/>
          <p:cNvSpPr/>
          <p:nvPr/>
        </p:nvSpPr>
        <p:spPr>
          <a:xfrm>
            <a:off x="1463040" y="3474720"/>
            <a:ext cx="457200" cy="4572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2286000" cy="109728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SC左メニュー</a:t>
            </a:r>
            <a:br/>
            <a:r>
              <a:t>「サイトマップ」</a:t>
            </a:r>
            <a:br/>
            <a:r>
              <a:t>をクリック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08960" y="4389120"/>
            <a:ext cx="457200" cy="228600"/>
          </a:xfrm>
          <a:prstGeom prst="rightArrow">
            <a:avLst/>
          </a:prstGeom>
          <a:solidFill>
            <a:srgbClr val="D0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9120" y="3474720"/>
            <a:ext cx="457200" cy="457200"/>
          </a:xfrm>
          <a:prstGeom prst="ellips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023360"/>
            <a:ext cx="2286000" cy="109728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サイトマップURL</a:t>
            </a:r>
            <a:br/>
            <a:r>
              <a:t>を入力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35040" y="4389120"/>
            <a:ext cx="457200" cy="228600"/>
          </a:xfrm>
          <a:prstGeom prst="rightArrow">
            <a:avLst/>
          </a:prstGeom>
          <a:solidFill>
            <a:srgbClr val="D0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347472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023360"/>
            <a:ext cx="2286000" cy="109728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「送信」ボタン</a:t>
            </a:r>
            <a:br/>
            <a:r>
              <a:t>をクリック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61120" y="4389120"/>
            <a:ext cx="457200" cy="228600"/>
          </a:xfrm>
          <a:prstGeom prst="rightArrow">
            <a:avLst/>
          </a:prstGeom>
          <a:solidFill>
            <a:srgbClr val="D0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80" y="347472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4023360"/>
            <a:ext cx="2286000" cy="109728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送信完了</a:t>
            </a:r>
            <a:br/>
            <a:r>
              <a:t>を確認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03520"/>
            <a:ext cx="11247120" cy="1188720"/>
          </a:xfrm>
          <a:prstGeom prst="roundRect">
            <a:avLst/>
          </a:prstGeom>
          <a:solidFill>
            <a:srgbClr val="252A4A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今後の期待効果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5852160"/>
            <a:ext cx="2011680" cy="457200"/>
          </a:xfrm>
          <a:prstGeom prst="roundRect">
            <a:avLst/>
          </a:prstGeom>
          <a:solidFill>
            <a:srgbClr val="1A1A30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6BB6A"/>
                </a:solidFill>
              </a:defRPr>
            </a:pPr>
            <a:r>
              <a:t>サイトマップ送信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200400" y="5943600"/>
            <a:ext cx="365760" cy="182880"/>
          </a:xfrm>
          <a:prstGeom prst="rightArrow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40480" y="5852160"/>
            <a:ext cx="2011680" cy="457200"/>
          </a:xfrm>
          <a:prstGeom prst="roundRect">
            <a:avLst/>
          </a:prstGeom>
          <a:solidFill>
            <a:srgbClr val="1A1A30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6BB6A"/>
                </a:solidFill>
              </a:defRPr>
            </a:pPr>
            <a:r>
              <a:t>インデックス登録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943600" y="5943600"/>
            <a:ext cx="365760" cy="182880"/>
          </a:xfrm>
          <a:prstGeom prst="rightArrow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0" y="5852160"/>
            <a:ext cx="2011680" cy="457200"/>
          </a:xfrm>
          <a:prstGeom prst="roundRect">
            <a:avLst/>
          </a:prstGeom>
          <a:solidFill>
            <a:srgbClr val="1A1A30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6BB6A"/>
                </a:solidFill>
              </a:defRPr>
            </a:pPr>
            <a:r>
              <a:t>検索結果に表示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686800" y="5943600"/>
            <a:ext cx="365760" cy="182880"/>
          </a:xfrm>
          <a:prstGeom prst="rightArrow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26880" y="5852160"/>
            <a:ext cx="2011680" cy="457200"/>
          </a:xfrm>
          <a:prstGeom prst="roundRect">
            <a:avLst/>
          </a:prstGeom>
          <a:solidFill>
            <a:srgbClr val="1A1A30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6BB6A"/>
                </a:solidFill>
              </a:defRPr>
            </a:pPr>
            <a:r>
              <a:t>クリック獲得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095A8"/>
                </a:solidFill>
              </a:defRPr>
            </a:pPr>
            <a:r>
              <a:t>※ 効果が出るまで数日〜数週間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095A8"/>
                </a:solidFill>
              </a:defRPr>
            </a:pPr>
            <a: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